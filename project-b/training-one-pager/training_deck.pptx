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8F8"/>
                </a:solidFill>
                <a:latin typeface="Calibri Light"/>
              </a:rPr>
              <a:t>WORKING WITH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688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Practical Introduction
for Business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0"/>
                </a:solidFill>
                <a:latin typeface="Calibri Light"/>
              </a:rPr>
              <a:t>Non-technical · Beginner · Live Virtual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C8E0"/>
                </a:solidFill>
                <a:latin typeface="Calibri Light"/>
              </a:rPr>
              <a:t>By the end of this session,
you will be able to: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2331720"/>
            <a:ext cx="292608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30428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32257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Use Claude for everyday work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3044952"/>
            <a:ext cx="292608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01752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03580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Create documents and summaries with Cowork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3758184"/>
            <a:ext cx="292608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7307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74904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Write prompts that get good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4471416"/>
            <a:ext cx="292608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443983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46227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Integrate Claude into your daily routine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7D8B"/>
                </a:solidFill>
                <a:latin typeface="Calibri Light"/>
              </a:rPr>
              <a:t>2026  ·  Training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E0"/>
                </a:solidFill>
                <a:latin typeface="Calibri Light"/>
              </a:rPr>
              <a:t>3 hours total  ·  4 modules  ·  2 hands-on exercises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09728" cy="43891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6CA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Calibri"/>
              </a:rPr>
              <a:t>What is Claude?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CA8"/>
                </a:solidFill>
                <a:latin typeface="Calibri"/>
              </a:rPr>
              <a:t>30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1188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Mental model, capabilities, first interaction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74320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109728" cy="43891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891B2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10312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Calibri"/>
              </a:rPr>
              <a:t>Getting Things Done with Cowork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3200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  <a:latin typeface="Calibri"/>
              </a:rPr>
              <a:t>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61188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Documents, research, summarization — hands-on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10972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109728" cy="438912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A6A4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10312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Calibri"/>
              </a:rPr>
              <a:t>Prompting That Actually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200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6A47"/>
                </a:solidFill>
                <a:latin typeface="Calibri"/>
              </a:rPr>
              <a:t>45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61188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Patterns, examples, iteration — applied to your job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3716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371600"/>
            <a:ext cx="2743200" cy="10972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371600"/>
            <a:ext cx="109728" cy="43891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B2D8B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210312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Calibri"/>
              </a:rPr>
              <a:t>Building Your Daily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3200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D8B"/>
                </a:solidFill>
                <a:latin typeface="Calibri"/>
              </a:rPr>
              <a:t>45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61188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Integration, delegation, data hygiene, wrap-up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 Light"/>
              </a:rPr>
              <a:t>☕  Short break between modules 2 and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29260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What is Claude?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C8E0"/>
                </a:solidFill>
                <a:latin typeface="Calibri Light"/>
              </a:rPr>
              <a:t>30 minutes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160520"/>
            <a:ext cx="164592" cy="16459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E8F5"/>
                </a:solidFill>
                <a:latin typeface="Calibri Light"/>
              </a:rPr>
              <a:t>Mental model — what Claude actually is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727448"/>
            <a:ext cx="164592" cy="16459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81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E8F5"/>
                </a:solidFill>
                <a:latin typeface="Calibri Light"/>
              </a:rPr>
              <a:t>What Claude can (and can't) do for you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294376"/>
            <a:ext cx="164592" cy="16459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486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E8F5"/>
                </a:solidFill>
                <a:latin typeface="Calibri Light"/>
              </a:rPr>
              <a:t>Your very first interaction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Claude?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E1E"/>
                </a:solidFill>
                <a:latin typeface="Calibri"/>
              </a:rPr>
              <a:t>Claude is an AI assistant made by Anthropic.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 Light"/>
              </a:rPr>
              <a:t>Think of it as a brilliant, tireless colleague who: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64008" cy="5303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5694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Reads and 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5694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Drafts emails, reports, summaries — in your voice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72968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72968"/>
            <a:ext cx="64008" cy="5303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278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Researches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2278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Synthesizes information, answers questions, explains concepts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31335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31335"/>
            <a:ext cx="64008" cy="5303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8619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Analyzes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88619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Reviews documents, finds patterns, gives structured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9704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89704"/>
            <a:ext cx="64008" cy="5303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5445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Remembers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5445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Holds the full conversation — no need to repeat yourself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48072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148072"/>
            <a:ext cx="64008" cy="5303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20293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Works with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2029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Creates Word docs, PDFs, spreadsheets on demand (in Cowork)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188720"/>
            <a:ext cx="5212080" cy="50292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1188720"/>
            <a:ext cx="5212080" cy="73152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371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8C8E0"/>
                </a:solidFill>
                <a:latin typeface="Calibri"/>
              </a:rPr>
              <a:t>The Right Mental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011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 Light"/>
              </a:rPr>
              <a:t>"A brilliant colleague
who never gets tired,
never gets annoyed,
and is always available."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4160520"/>
            <a:ext cx="45720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297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C8E0"/>
                </a:solidFill>
                <a:latin typeface="Calibri Light"/>
              </a:rPr>
              <a:t>Not a search engine.
Not magic.
Not infallible.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Setting Expectations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6400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Calibri"/>
              </a:rPr>
              <a:t>❌  Not a search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Claude doesn't browse the web in real time. It has a knowledge cutoff. Use it to think, draft, and analyze — not as a live news feed.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6400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533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Calibri"/>
              </a:rPr>
              <a:t>❌  Not always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4708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Claude can be confidently wrong. Always verify facts, numbers, and legal/financial information with authoritative sources.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5577840" cy="6400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2219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Calibri"/>
              </a:rPr>
              <a:t>❌  Not a mind 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1596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Vague prompts get vague results. The more context and detail you give, the better Claude performs. It's a conversation, not a magic button.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657600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5577840" cy="6400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2219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Calibri"/>
              </a:rPr>
              <a:t>❌  Not a replacement for judgment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1596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Claude is a tool that amplifies your thinking. You bring domain expertise, accountability, and final decision-making. Claude does the heavy lifting.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CA8"/>
                </a:solidFill>
                <a:latin typeface="Calibri"/>
              </a:rPr>
              <a:t>The goal: use Claude confidently — and critically.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Your First Interaction  — 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182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Calibri"/>
              </a:rPr>
              <a:t>Watch, then try it yourself: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64008" cy="1005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647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  <a:latin typeface="Calibri"/>
              </a:rPr>
              <a:t>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055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E1E1E"/>
                </a:solidFill>
                <a:latin typeface="Calibri Light"/>
              </a:rPr>
              <a:t>"Summarize this in 3 bullet points: [paste any text]"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64008" cy="1005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99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  <a:latin typeface="Calibri"/>
              </a:rPr>
              <a:t>Practical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649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E1E1E"/>
                </a:solidFill>
                <a:latin typeface="Calibri Light"/>
              </a:rPr>
              <a:t>"Write a professional email declining a meeting. Keep it under 4 sentences."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64008" cy="1005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233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  <a:latin typeface="Calibri"/>
              </a:rPr>
              <a:t>Your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994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E1E1E"/>
                </a:solidFill>
                <a:latin typeface="Calibri Light"/>
              </a:rPr>
              <a:t>"I work in [your role]. What are 5 ways Claude could save me time each week?"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💡  Tip: Claude responds to the whole conversation. Correct it, add detail, ask follow-ups.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👉  Your turn: Try the "Your job" prompt now. We'll share a few in chat.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Getting Things Done
with Cowork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3657600" cy="36576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C8E0"/>
                </a:solidFill>
                <a:latin typeface="Calibri Light"/>
              </a:rPr>
              <a:t>60 minutes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846320"/>
            <a:ext cx="164592" cy="164592"/>
          </a:xfrm>
          <a:prstGeom prst="ellipse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Cowork interface walkthrough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321808"/>
            <a:ext cx="164592" cy="164592"/>
          </a:xfrm>
          <a:prstGeom prst="ellipse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760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Creating documents with the docx skill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797296"/>
            <a:ext cx="164592" cy="164592"/>
          </a:xfrm>
          <a:prstGeom prst="ellipse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5157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Research and summarization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6272783"/>
            <a:ext cx="164592" cy="164592"/>
          </a:xfrm>
          <a:prstGeom prst="ellipse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22706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Hands-on Exercise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Cowork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182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286000" cy="530352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97480" y="1051560"/>
            <a:ext cx="6583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0" y="1051560"/>
            <a:ext cx="2468880" cy="530352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Calibri"/>
              </a:rPr>
              <a:t>Sidebar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C8"/>
                </a:solidFill>
                <a:latin typeface="Calibri Light"/>
              </a:rPr>
              <a:t>+ New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1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C8"/>
                </a:solidFill>
                <a:latin typeface="Calibri Light"/>
              </a:rPr>
              <a:t>─────────────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32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C8"/>
                </a:solidFill>
                <a:latin typeface="Calibri Light"/>
              </a:rPr>
              <a:t>Yesterday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71215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C8"/>
                </a:solidFill>
                <a:latin typeface="Calibri Light"/>
              </a:rPr>
              <a:t>  Research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101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C8"/>
                </a:solidFill>
                <a:latin typeface="Calibri Light"/>
              </a:rPr>
              <a:t>  Draft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49039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C8"/>
                </a:solidFill>
                <a:latin typeface="Calibri Light"/>
              </a:rPr>
              <a:t>  Q3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879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C8"/>
                </a:solidFill>
                <a:latin typeface="Calibri Light"/>
              </a:rPr>
              <a:t>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268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4C8"/>
                </a:solidFill>
                <a:latin typeface="Calibri Light"/>
              </a:rPr>
              <a:t>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143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6CA8"/>
                </a:solidFill>
                <a:latin typeface="Calibri"/>
              </a:rPr>
              <a:t>Conversation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600200"/>
            <a:ext cx="649224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1664208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 Light"/>
              </a:rPr>
              <a:t>  You:  Summarize the Q3 report for our exec team.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624328"/>
            <a:ext cx="6492240" cy="822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688336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6CA8"/>
                </a:solidFill>
                <a:latin typeface="Calibri Light"/>
              </a:rPr>
              <a:t>  Claude:  Here's a concise summary for your exec team...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648456"/>
            <a:ext cx="649224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3712464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 Light"/>
              </a:rPr>
              <a:t>  You:  Make it shorter and add a risks section.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672584"/>
            <a:ext cx="6492240" cy="822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736592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6CA8"/>
                </a:solidFill>
                <a:latin typeface="Calibri Light"/>
              </a:rPr>
              <a:t>  Claude:  Done — here's the revised version with Risks...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Calibri"/>
              </a:rPr>
              <a:t>Artifacts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1600200"/>
            <a:ext cx="2286000" cy="11887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16916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📄  Q3_summary.docx
Ready to open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46520"/>
            <a:ext cx="228600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6CA8"/>
                </a:solidFill>
                <a:latin typeface="Calibri Light"/>
              </a:rPr>
              <a:t>① Past sessions  ·  Start new sessions  ·  Settings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6446520"/>
            <a:ext cx="65836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6CA8"/>
                </a:solidFill>
                <a:latin typeface="Calibri Light"/>
              </a:rPr>
              <a:t>② Conversation area  ·  Type prompts here  ·  Iterate naturally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6446520"/>
            <a:ext cx="246888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6CA8"/>
                </a:solidFill>
                <a:latin typeface="Calibri Light"/>
              </a:rPr>
              <a:t>③ Artifacts panel  ·  Files Claude creates  ·  Click to open/download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Creating Documents with Cowork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1828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2560320"/>
            <a:ext cx="27432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3200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19" y="1417320"/>
            <a:ext cx="6400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1E"/>
                </a:solidFill>
                <a:latin typeface="Calibri"/>
              </a:rPr>
              <a:t>Describe what you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Tell Claude the document type, purpose, and audience.
"Create a one-page project status report for my manager."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560320"/>
            <a:ext cx="27432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188720"/>
            <a:ext cx="27432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743200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17320"/>
            <a:ext cx="6400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40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1E"/>
                </a:solidFill>
                <a:latin typeface="Calibri"/>
              </a:rPr>
              <a:t>Claude drafts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2608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Claude writes a complete draft using the docx skill.
You can see it being built in real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2560320"/>
            <a:ext cx="27432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188720"/>
            <a:ext cx="27432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188720"/>
            <a:ext cx="2743200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1417320"/>
            <a:ext cx="6400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240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1E"/>
                </a:solidFill>
                <a:latin typeface="Calibri"/>
              </a:rPr>
              <a:t>Refine in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92608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Ask for changes naturally:
"Make the tone more formal" or "Add a risks section."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188720"/>
            <a:ext cx="27432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188720"/>
            <a:ext cx="2743200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95560" y="1417320"/>
            <a:ext cx="6400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240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1E"/>
                </a:solidFill>
                <a:latin typeface="Calibri"/>
              </a:rPr>
              <a:t>Download the .docx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92608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Click the artifact in the sidebar.
Open directly in Word or save to your computer.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897880"/>
            <a:ext cx="11430000" cy="685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167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CA8"/>
                </a:solidFill>
                <a:latin typeface="Calibri"/>
              </a:rPr>
              <a:t>Works for:  Word docs  ·  PDF reports  ·  PowerPoint decks  ·  Excel spreadsheets  ·  And 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Research &amp; Summarization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91440" cy="23774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075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6CA8"/>
                </a:solidFill>
                <a:latin typeface="Calibri"/>
              </a:rPr>
              <a:t>Summarize long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01368"/>
            <a:ext cx="52120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Paste a lengthy report, contract, or article.
Ask Claude for a summary, key points, or action items.
Example: "Read this and tell me the 5 most important things I need to act on."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91440" cy="2377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075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891B2"/>
                </a:solidFill>
                <a:latin typeface="Calibri"/>
              </a:rPr>
              <a:t>Explain complex topics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01368"/>
            <a:ext cx="52120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Get plain-English explanations of technical, legal, or financial content.
Example: "Explain this contract clause to me like I'm not a lawyer."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91440" cy="237744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1363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6A47"/>
                </a:solidFill>
                <a:latin typeface="Calibri"/>
              </a:rPr>
              <a:t>Compare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07407"/>
            <a:ext cx="52120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Give Claude two or more options and ask for a structured comparison.
Example: "Compare these two vendor proposals. Which has better terms on delivery?"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49039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749039"/>
            <a:ext cx="91440" cy="237744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91363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D8B"/>
                </a:solidFill>
                <a:latin typeface="Calibri"/>
              </a:rPr>
              <a:t>Prepare for meetings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407407"/>
            <a:ext cx="52120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Share an agenda, background docs, or email chain.
Ask Claude to prep you with key questions or a briefing.
Example: "I have 10 minutes. What do I need to know before this call?"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371600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EXERCISE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Your Turn — 10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4114800" cy="36576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11247120" cy="11887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91440" cy="1188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891B2"/>
                </a:solidFill>
                <a:latin typeface="Calibri"/>
              </a:rPr>
              <a:t>Task A — Summarize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5"/>
                </a:solidFill>
                <a:latin typeface="Calibri Light"/>
              </a:rPr>
              <a:t>Find a long email, report, or article you received recently.
Paste it into Cowork and ask: "Summarize this and list the 3 things I need to act on."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11247120" cy="11887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91440" cy="1188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891B2"/>
                </a:solidFill>
                <a:latin typeface="Calibri"/>
              </a:rPr>
              <a:t>Task B — Create a 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5"/>
                </a:solidFill>
                <a:latin typeface="Calibri Light"/>
              </a:rPr>
              <a:t>Think of a short document you write regularly (status update, meeting agenda, etc.).
Describe it to Claude and ask it to create a draft .docx for you.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92040"/>
            <a:ext cx="11247120" cy="11887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91440" cy="118872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834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6A47"/>
                </a:solidFill>
                <a:latin typeface="Calibri"/>
              </a:rPr>
              <a:t>Bonus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9495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5"/>
                </a:solidFill>
                <a:latin typeface="Calibri Light"/>
              </a:rPr>
              <a:t>Take Claude's draft from Task B and ask it to make one change.
Try: tone, length, format, or adding a section.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7D8B"/>
                </a:solidFill>
                <a:latin typeface="Calibri Light"/>
              </a:rPr>
              <a:t>Share your results in the chat when done  ·  We'll discuss 2-3 examples together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29260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Prompting That
Actually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36576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C8E0"/>
                </a:solidFill>
                <a:latin typeface="Calibri Light"/>
              </a:rPr>
              <a:t>45 minutes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846320"/>
            <a:ext cx="164592" cy="164592"/>
          </a:xfrm>
          <a:prstGeom prst="ellipse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Anatomy of a good prompt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321808"/>
            <a:ext cx="164592" cy="164592"/>
          </a:xfrm>
          <a:prstGeom prst="ellipse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760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Four prompt patterns that always work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797296"/>
            <a:ext cx="164592" cy="164592"/>
          </a:xfrm>
          <a:prstGeom prst="ellipse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5157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The iteration loop — prompting is a conversation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6272783"/>
            <a:ext cx="164592" cy="164592"/>
          </a:xfrm>
          <a:prstGeom prst="ellipse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22706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Hands-on Exercise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Anatomy of a Good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743200" cy="914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CA8"/>
                </a:solidFill>
                <a:latin typeface="Calibri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Who you are and why you need this.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697480"/>
            <a:ext cx="2514600" cy="21031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16352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 Light"/>
              </a:rPr>
              <a:t>"I'm a project manager preparing a weekly status report for my VP..."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143000"/>
            <a:ext cx="2743200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91B2"/>
                </a:solidFill>
                <a:latin typeface="Calibri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1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What you want Claude to do. Be specific.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1568" y="2697480"/>
            <a:ext cx="2514600" cy="21031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816352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 Light"/>
              </a:rPr>
              <a:t>"...Summarize these 5 project updates into a single concise report."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43000"/>
            <a:ext cx="2743200" cy="9144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325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6A47"/>
                </a:solidFill>
                <a:latin typeface="Calibri"/>
              </a:rPr>
              <a:t>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7451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How you want the output structured.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2697480"/>
            <a:ext cx="2514600" cy="21031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816352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 Light"/>
              </a:rPr>
              <a:t>"...Use bullet points. Keep each update to 2 sentences. Include a risks section."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14300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143000"/>
            <a:ext cx="2743200" cy="9144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325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2D8B"/>
                </a:solidFill>
                <a:latin typeface="Calibri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87451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Length, tone, things to avoid.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53728" y="2697480"/>
            <a:ext cx="2514600" cy="2103120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16352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 Light"/>
              </a:rPr>
              <a:t>"...Keep the whole thing under one page. Use professional language."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B6CA8"/>
                </a:solidFill>
                <a:latin typeface="Calibri"/>
              </a:rPr>
              <a:t>You don't need all four every time — but the more you include, the better the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Four Patterns That Always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91440" cy="2331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6CA8"/>
                </a:solidFill>
                <a:latin typeface="Calibri"/>
              </a:rPr>
              <a:t>The Role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099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Give Claude a role to inhabit.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52120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40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 Light"/>
              </a:rPr>
              <a:t>"Act as an experienced HR manager. Review this job description and suggest improvements."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91440" cy="2331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527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891B2"/>
                </a:solidFill>
                <a:latin typeface="Calibri"/>
              </a:rPr>
              <a:t>The Before/After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7099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Show Claude an example of what you want.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148840"/>
            <a:ext cx="52120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240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 Light"/>
              </a:rPr>
              <a:t>"Here's an email I received [paste]. Write a reply that is professional but firm."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91440" cy="233172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13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6A47"/>
                </a:solidFill>
                <a:latin typeface="Calibri"/>
              </a:rPr>
              <a:t>The Step-by-Step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702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Ask Claude to think through a problem methodically.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09160"/>
            <a:ext cx="52120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800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 Light"/>
              </a:rPr>
              <a:t>"Walk me through how I should approach this vendor negotiation, step by step."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0332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703320"/>
            <a:ext cx="91440" cy="2331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813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D8B"/>
                </a:solidFill>
                <a:latin typeface="Calibri"/>
              </a:rPr>
              <a:t>The Format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2702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Specify exactly how you want the output.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709160"/>
            <a:ext cx="52120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800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 Light"/>
              </a:rPr>
              <a:t>"Give me a table with 3 columns: Task, Owner, Deadline. Fill it from these meeting notes."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Prompting Is a Conversation, Not a Magic Button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920240" cy="18288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Send your
first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 Light"/>
              </a:rPr>
              <a:t>Good enough
is fine to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CCCC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011680"/>
            <a:ext cx="1920240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3317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Read the
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46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 Light"/>
              </a:rPr>
              <a:t>Is it close?
What's missing?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CCCC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011680"/>
            <a:ext cx="1920240" cy="182880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3317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Refine
and iterate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46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 Light"/>
              </a:rPr>
              <a:t>Add detail, correct,
or redirect.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CCCC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011680"/>
            <a:ext cx="1920240" cy="18288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3317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Use the
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246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 Light"/>
              </a:rPr>
              <a:t>Download, copy,
or build on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E1E"/>
                </a:solidFill>
                <a:latin typeface="Calibri"/>
              </a:rPr>
              <a:t>Useful corrections: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736592"/>
            <a:ext cx="137160" cy="1371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E1E1E"/>
                </a:solidFill>
                <a:latin typeface="Calibri Light"/>
              </a:rPr>
              <a:t>"Make it shorter — 3 sentences max."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5239512"/>
            <a:ext cx="137160" cy="1371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6635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E1E1E"/>
                </a:solidFill>
                <a:latin typeface="Calibri Light"/>
              </a:rPr>
              <a:t>"That's too formal. Rewrite it in a casual, friendly tone."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742431"/>
            <a:ext cx="137160" cy="1371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6927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E1E1E"/>
                </a:solidFill>
                <a:latin typeface="Calibri Light"/>
              </a:rPr>
              <a:t>"You missed the point — here's what I actually meant: [clarify]"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6245352"/>
            <a:ext cx="137160" cy="1371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1722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E1E1E"/>
                </a:solidFill>
                <a:latin typeface="Calibri Light"/>
              </a:rPr>
              <a:t>"Good, but add a section on budget implications."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371600" cy="29260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EXERCISE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Prompting for Your Job — 10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41148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11247120" cy="11887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91440" cy="118872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6A47"/>
                </a:solidFill>
                <a:latin typeface="Calibri"/>
              </a:rPr>
              <a:t>Task A — Apply a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5"/>
                </a:solidFill>
                <a:latin typeface="Calibri Light"/>
              </a:rPr>
              <a:t>Pick ONE of the four patterns from the last slide.
Use it on a real task from your job.
Share the prompt you used in chat (not the output — just the prompt).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11247120" cy="11887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91440" cy="118872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6A47"/>
                </a:solidFill>
                <a:latin typeface="Calibri"/>
              </a:rPr>
              <a:t>Task B — Iterate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5"/>
                </a:solidFill>
                <a:latin typeface="Calibri Light"/>
              </a:rPr>
              <a:t>Take Claude's first response and send at least ONE follow-up refinement.
Notice how the output changes.
Which version is more useful to you?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92040"/>
            <a:ext cx="11247120" cy="11887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91440" cy="1188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834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891B2"/>
                </a:solidFill>
                <a:latin typeface="Calibri"/>
              </a:rPr>
              <a:t>Reflection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9495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5"/>
                </a:solidFill>
                <a:latin typeface="Calibri Light"/>
              </a:rPr>
              <a:t>What task at work could you do with Claude this week?
Be specific: "I could use Claude to _____ every _____ 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7D8B"/>
                </a:solidFill>
                <a:latin typeface="Calibri Light"/>
              </a:rPr>
              <a:t>We'll use the Reflection answers to build your personal workflow in Module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29260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Building Your
Daily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3657600" cy="36576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C8E0"/>
                </a:solidFill>
                <a:latin typeface="Calibri Light"/>
              </a:rPr>
              <a:t>45 minutes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846320"/>
            <a:ext cx="164592" cy="164592"/>
          </a:xfrm>
          <a:prstGeom prst="ellipse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What to delegate to Claude (and what not to)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321808"/>
            <a:ext cx="164592" cy="164592"/>
          </a:xfrm>
          <a:prstGeom prst="ellipse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760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Data hygiene — what not to share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797296"/>
            <a:ext cx="164592" cy="164592"/>
          </a:xfrm>
          <a:prstGeom prst="ellipse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5157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Building a personal routine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6272783"/>
            <a:ext cx="164592" cy="164592"/>
          </a:xfrm>
          <a:prstGeom prst="ellipse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22706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5"/>
                </a:solidFill>
                <a:latin typeface="Calibri Light"/>
              </a:rPr>
              <a:t>Wrap-up and Q&amp;A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to Delegate — and What to Keep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94960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891B2"/>
                </a:solidFill>
                <a:latin typeface="Calibri"/>
              </a:rPr>
              <a:t>✅  Delegate to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• Drafting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First drafts of emails, reports, summaries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32887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• Formatting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53288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Tables, structured docs, slide outlines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912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• Summarizing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19125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Long documents, meeting notes, articles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96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• Explaining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8496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Technical or complex content made 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079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• Brainstorming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5079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Options, ideas, angles you hadn't considered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6635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CA8"/>
                </a:solidFill>
                <a:latin typeface="Calibri"/>
              </a:rPr>
              <a:t>• Repetitive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516635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Templates you fill out repeatedly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09728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097280"/>
            <a:ext cx="5394960" cy="9144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6A47"/>
                </a:solidFill>
                <a:latin typeface="Calibri"/>
              </a:rPr>
              <a:t>🧠  Keep for Yourself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87451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A47"/>
                </a:solidFill>
                <a:latin typeface="Calibri"/>
              </a:rPr>
              <a:t>• Final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874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You own the outcome — Claude advises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32887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A47"/>
                </a:solidFill>
                <a:latin typeface="Calibri"/>
              </a:rPr>
              <a:t>• Sensitive judgment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53288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Anything requiring empathy, ethics, or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1912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A47"/>
                </a:solidFill>
                <a:latin typeface="Calibri"/>
              </a:rPr>
              <a:t>• Factual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1912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Check important facts with authoritative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4962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A47"/>
                </a:solidFill>
                <a:latin typeface="Calibri"/>
              </a:rPr>
              <a:t>• Legal &amp; financial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8496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Consult professionals for high-stakes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079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A47"/>
                </a:solidFill>
                <a:latin typeface="Calibri"/>
              </a:rPr>
              <a:t>• Confidential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5079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Don't paste sensitive PII or private company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16635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6A47"/>
                </a:solidFill>
                <a:latin typeface="Calibri"/>
              </a:rPr>
              <a:t>• Your expertise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516635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Your domain knowledge is irreplaceable — bring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 Hygiene — What Not to Share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91440" cy="160020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6A47"/>
                </a:solidFill>
                <a:latin typeface="Calibri"/>
              </a:rPr>
              <a:t>No passwords or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Never paste API keys, login credentials, or access tokens into any AI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91440" cy="160020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6A47"/>
                </a:solidFill>
                <a:latin typeface="Calibri"/>
              </a:rPr>
              <a:t>No personal data (PII)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Avoid sharing Social Security numbers, full names + addresses, financial account numbers, or medical records.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91440" cy="16002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6CA8"/>
                </a:solidFill>
                <a:latin typeface="Calibri"/>
              </a:rPr>
              <a:t>Check your company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20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Many organizations have an AI acceptable-use policy. Know what data is permitted before using Claude for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92608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926080"/>
            <a:ext cx="91440" cy="16002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6CA8"/>
                </a:solidFill>
                <a:latin typeface="Calibri"/>
              </a:rPr>
              <a:t>Anonymize when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20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Replace real names with "Colleague A" or real numbers with placeholders. Get the same result with less risk.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0916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709160"/>
            <a:ext cx="91440" cy="1600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846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891B2"/>
                </a:solidFill>
                <a:latin typeface="Calibri"/>
              </a:rPr>
              <a:t>Claude.ai is not trained on your conversations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035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Anthropic does not use your conversations to train Claude by default — but review your org's data agreement.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70916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709160"/>
            <a:ext cx="91440" cy="1600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846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891B2"/>
                </a:solidFill>
                <a:latin typeface="Calibri"/>
              </a:rPr>
              <a:t>When in doubt, leave it 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035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 Light"/>
              </a:rPr>
              <a:t>If you'd hesitate to paste something into a work email, hesitate before pasting it into Claude.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Building Your Personal Routine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Calibri"/>
              </a:rPr>
              <a:t>Sample Daily Workflow  —  30 minutes saved per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1463040" cy="1188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828800"/>
            <a:ext cx="10058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20240" y="1828800"/>
            <a:ext cx="10058400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993392"/>
            <a:ext cx="9692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• Review overnight emails → Ask Claude: "Summarize these and flag anything urgent."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468880"/>
            <a:ext cx="9692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• Prep for first meeting → Paste the agenda and ask Claude to brief you in 3 points.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1463040" cy="1188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5661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Midday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3246120"/>
            <a:ext cx="10058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3246120"/>
            <a:ext cx="10058400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3410712"/>
            <a:ext cx="9692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• Drafting work → Use Claude for first drafts of any written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86200"/>
            <a:ext cx="9692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• Research → Paste long docs and extract only what you need.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1463040" cy="118872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983479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End of 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4663440"/>
            <a:ext cx="10058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20240" y="4663440"/>
            <a:ext cx="10058400" cy="64008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4828031"/>
            <a:ext cx="9692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• Status update → Ask Claude to turn your bullet notes into a polished summary.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03519"/>
            <a:ext cx="9692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 Light"/>
              </a:rPr>
              <a:t>• Plan tomorrow → Ask Claude to organize your task list by priority.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291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6CA8"/>
                </a:solidFill>
                <a:latin typeface="Calibri"/>
              </a:rPr>
              <a:t>Start small: pick ONE task per day for one week. Build from there.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02920" cy="14173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Claude is a tool for thinking, writing, and analyzing — not a search engine or infallible oracle.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02920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630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Cowork is your workspace for non-technical tasks: documents, research, and file creation.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502920" cy="1417320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5468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Better prompts = better results. Use context, task, format, and constraints.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34640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834640"/>
            <a:ext cx="502920" cy="14173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15468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1089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Iteration beats perfection. Send a good-enough first prompt, then refine conversationally.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480560"/>
            <a:ext cx="502920" cy="14173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54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Delegate drafting, formatting, and summarizing. Keep final decisions and judgment.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480560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480560"/>
            <a:ext cx="502920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800600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754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Start with one task per day. Build a routine that saves you real time.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You're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891B2"/>
                </a:solidFill>
                <a:latin typeface="Calibri Light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4114800" cy="36576"/>
          </a:xfrm>
          <a:prstGeom prst="rect">
            <a:avLst/>
          </a:prstGeom>
          <a:solidFill>
            <a:srgbClr val="EA6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8E0"/>
                </a:solidFill>
                <a:latin typeface="Calibri Light"/>
              </a:rPr>
              <a:t>Your next step: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Try Claude on ONE task
this week. Any task.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731520"/>
            <a:ext cx="6400800" cy="5303520"/>
          </a:xfrm>
          <a:prstGeom prst="rect">
            <a:avLst/>
          </a:prstGeom>
          <a:solidFill>
            <a:srgbClr val="0D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731520"/>
            <a:ext cx="6400800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960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600200"/>
            <a:ext cx="612648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66420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claude.ai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94767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E0"/>
                </a:solidFill>
                <a:latin typeface="Calibri Light"/>
              </a:rPr>
              <a:t>Start using Claude right 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404872"/>
            <a:ext cx="612648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468879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docs.claude.com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752344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E0"/>
                </a:solidFill>
                <a:latin typeface="Calibri Light"/>
              </a:rPr>
              <a:t>Full documentation and guides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209544"/>
            <a:ext cx="612648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3273551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docs.claude.com/prompting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557015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E0"/>
                </a:solidFill>
                <a:latin typeface="Calibri Light"/>
              </a:rPr>
              <a:t>Anthropic's prompt engineering guide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014216"/>
            <a:ext cx="612648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07822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Participant Workbook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36168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E0"/>
                </a:solidFill>
                <a:latin typeface="Calibri Light"/>
              </a:rPr>
              <a:t>Exercises + quick reference card — in your inbox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4818888"/>
            <a:ext cx="612648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4882896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Quick Reference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5166359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E0"/>
                </a:solidFill>
                <a:latin typeface="Calibri Light"/>
              </a:rPr>
              <a:t>One-page desk reference — shared in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7D8B"/>
                </a:solidFill>
                <a:latin typeface="Calibri Light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